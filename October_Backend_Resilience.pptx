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" name="Shape 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" name="Shape 4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handover-1.html — baseline assignment and platform seams, lines 707–748.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4" name="Shape 6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handover-1.html — “joins between them” framing and known seam issues, lines 707–748.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5" name="Shape 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handover-1.html — known examples: request tracing, API contracts, single-process assumptions, readiness and durability, lines 716–748.</a:t>
            </a:r>
          </a:p>
          <a:p>
            <a:pPr/>
            <a:r>
              <a:t>handover-1.html — runtime and data stores, lines 780–856 and 1018–1037.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6" name="Shape 12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Source: October assignment wording agreed in conversation; grounded in handover-1.html seam findings.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5" name="Shape 16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handover-1.html — request traceability target, lines 1131–1176.</a:t>
            </a:r>
          </a:p>
          <a:p>
            <a:pPr/>
            <a:r>
              <a:t>handover-1.html — existing infrastructure gaps and explicit “done when” criteria, lines 1080–1320.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Shape 17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handover-1.html — platform engineering baseline measured against dev, lines 680–704.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STER">
    <p:bg>
      <p:bgPr>
        <a:solidFill>
          <a:srgbClr val="0E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" name="Text 1"/>
          <p:cNvSpPr txBox="1"/>
          <p:nvPr/>
        </p:nvSpPr>
        <p:spPr>
          <a:xfrm>
            <a:off x="594359" y="316992"/>
            <a:ext cx="1828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000">
                <a:solidFill>
                  <a:srgbClr val="8A8580"/>
                </a:solidFill>
              </a:defRPr>
            </a:lvl1pPr>
          </a:lstStyle>
          <a:p>
            <a:pPr/>
            <a:r>
              <a:t>PLATFORM</a:t>
            </a:r>
          </a:p>
        </p:txBody>
      </p:sp>
      <p:sp>
        <p:nvSpPr>
          <p:cNvPr id="20" name="Text 2"/>
          <p:cNvSpPr txBox="1"/>
          <p:nvPr/>
        </p:nvSpPr>
        <p:spPr>
          <a:xfrm>
            <a:off x="9235440" y="323342"/>
            <a:ext cx="23317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E5A54"/>
                </a:solidFill>
              </a:defRPr>
            </a:lvl1pPr>
          </a:lstStyle>
          <a:p>
            <a:pPr/>
            <a:r>
              <a:t>October · Backend resilience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xfrm>
            <a:off x="11441450" y="6510528"/>
            <a:ext cx="217151" cy="2184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356350"/>
            <a:ext cx="2844800" cy="3683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5E5A54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Sthinggaard/platform-backend.git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 txBox="1"/>
          <p:nvPr/>
        </p:nvSpPr>
        <p:spPr>
          <a:xfrm>
            <a:off x="640080" y="1346199"/>
            <a:ext cx="6766560" cy="9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200">
                <a:solidFill>
                  <a:srgbClr val="F5F3EF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Backend Resilience</a:t>
            </a:r>
          </a:p>
          <a:p>
            <a:pPr>
              <a:defRPr b="1" sz="3200">
                <a:solidFill>
                  <a:srgbClr val="F5F3EF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&amp; Attack Agent</a:t>
            </a:r>
          </a:p>
        </p:txBody>
      </p:sp>
      <p:sp>
        <p:nvSpPr>
          <p:cNvPr id="31" name="Text 1"/>
          <p:cNvSpPr txBox="1"/>
          <p:nvPr/>
        </p:nvSpPr>
        <p:spPr>
          <a:xfrm>
            <a:off x="658367" y="2643631"/>
            <a:ext cx="310896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4B8A6"/>
                </a:solidFill>
              </a:defRPr>
            </a:lvl1pPr>
          </a:lstStyle>
          <a:p>
            <a:pPr/>
            <a:r>
              <a:t>October assignment</a:t>
            </a:r>
          </a:p>
        </p:txBody>
      </p:sp>
      <p:sp>
        <p:nvSpPr>
          <p:cNvPr id="32" name="Text 2"/>
          <p:cNvSpPr txBox="1"/>
          <p:nvPr/>
        </p:nvSpPr>
        <p:spPr>
          <a:xfrm>
            <a:off x="658368" y="3279648"/>
            <a:ext cx="676656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5F3EF"/>
                </a:solidFill>
              </a:defRPr>
            </a:lvl1pPr>
          </a:lstStyle>
          <a:p>
            <a:pPr/>
            <a:r>
              <a:t>Make the backend and its data robust enough for us to confidently start onboarding customers.</a:t>
            </a:r>
          </a:p>
        </p:txBody>
      </p:sp>
      <p:sp>
        <p:nvSpPr>
          <p:cNvPr id="33" name="Shape 3"/>
          <p:cNvSpPr/>
          <p:nvPr/>
        </p:nvSpPr>
        <p:spPr>
          <a:xfrm>
            <a:off x="7909559" y="1188719"/>
            <a:ext cx="3611881" cy="4526281"/>
          </a:xfrm>
          <a:prstGeom prst="roundRect">
            <a:avLst>
              <a:gd name="adj" fmla="val 2025"/>
            </a:avLst>
          </a:prstGeom>
          <a:solidFill>
            <a:srgbClr val="131210"/>
          </a:solidFill>
          <a:ln w="12700">
            <a:solidFill>
              <a:srgbClr val="221F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4"/>
          <p:cNvSpPr txBox="1"/>
          <p:nvPr/>
        </p:nvSpPr>
        <p:spPr>
          <a:xfrm>
            <a:off x="8275319" y="1649729"/>
            <a:ext cx="2852929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100">
                <a:solidFill>
                  <a:srgbClr val="F5F3EF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The attack agent is the tool —</a:t>
            </a:r>
          </a:p>
          <a:p>
            <a:pPr>
              <a:defRPr b="1" sz="2100">
                <a:solidFill>
                  <a:srgbClr val="F5F3EF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not the product.</a:t>
            </a:r>
          </a:p>
        </p:txBody>
      </p:sp>
      <p:sp>
        <p:nvSpPr>
          <p:cNvPr id="35" name="Text 5"/>
          <p:cNvSpPr txBox="1"/>
          <p:nvPr/>
        </p:nvSpPr>
        <p:spPr>
          <a:xfrm>
            <a:off x="8275319" y="2957830"/>
            <a:ext cx="2743201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8A8580"/>
                </a:solidFill>
              </a:defRPr>
            </a:lvl1pPr>
          </a:lstStyle>
          <a:p>
            <a:pPr/>
            <a:r>
              <a:t>Its job is to deliberately challenge the backend and expose where data can become inconsistent, fragile, stale, duplicated or difficult to recover.</a:t>
            </a:r>
          </a:p>
        </p:txBody>
      </p:sp>
      <p:sp>
        <p:nvSpPr>
          <p:cNvPr id="36" name="Shape 6"/>
          <p:cNvSpPr/>
          <p:nvPr/>
        </p:nvSpPr>
        <p:spPr>
          <a:xfrm>
            <a:off x="8275319" y="4572000"/>
            <a:ext cx="1691641" cy="310896"/>
          </a:xfrm>
          <a:prstGeom prst="roundRect">
            <a:avLst>
              <a:gd name="adj" fmla="val 23529"/>
            </a:avLst>
          </a:prstGeom>
          <a:solidFill>
            <a:srgbClr val="14B8A6">
              <a:alpha val="16000"/>
            </a:srgbClr>
          </a:solidFill>
          <a:ln w="12700">
            <a:solidFill>
              <a:srgbClr val="14B8A6">
                <a:alpha val="6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7"/>
          <p:cNvSpPr txBox="1"/>
          <p:nvPr/>
        </p:nvSpPr>
        <p:spPr>
          <a:xfrm>
            <a:off x="8348471" y="4640579"/>
            <a:ext cx="1545337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900">
                <a:solidFill>
                  <a:srgbClr val="14B8A6"/>
                </a:solidFill>
              </a:defRPr>
            </a:lvl1pPr>
          </a:lstStyle>
          <a:p>
            <a:pPr/>
            <a:r>
              <a:t>COMMERCIAL READINESS</a:t>
            </a:r>
          </a:p>
        </p:txBody>
      </p:sp>
      <p:sp>
        <p:nvSpPr>
          <p:cNvPr id="38" name="Shape 8"/>
          <p:cNvSpPr/>
          <p:nvPr/>
        </p:nvSpPr>
        <p:spPr>
          <a:xfrm>
            <a:off x="10040111" y="4572000"/>
            <a:ext cx="1280162" cy="310896"/>
          </a:xfrm>
          <a:prstGeom prst="roundRect">
            <a:avLst>
              <a:gd name="adj" fmla="val 23529"/>
            </a:avLst>
          </a:prstGeom>
          <a:solidFill>
            <a:srgbClr val="5FB873">
              <a:alpha val="16000"/>
            </a:srgbClr>
          </a:solidFill>
          <a:ln w="12700">
            <a:solidFill>
              <a:srgbClr val="5FB873">
                <a:alpha val="6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Text 9"/>
          <p:cNvSpPr txBox="1"/>
          <p:nvPr/>
        </p:nvSpPr>
        <p:spPr>
          <a:xfrm>
            <a:off x="10113264" y="4640579"/>
            <a:ext cx="1133857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900">
                <a:solidFill>
                  <a:srgbClr val="5FB873"/>
                </a:solidFill>
              </a:defRPr>
            </a:lvl1pPr>
          </a:lstStyle>
          <a:p>
            <a:pPr/>
            <a:r>
              <a:t>DATA INTEGRITY</a:t>
            </a:r>
          </a:p>
        </p:txBody>
      </p:sp>
      <p:sp>
        <p:nvSpPr>
          <p:cNvPr id="40" name="Slide Number Placeholder 0"/>
          <p:cNvSpPr txBox="1"/>
          <p:nvPr>
            <p:ph type="sldNum" sz="quarter" idx="4294967295"/>
          </p:nvPr>
        </p:nvSpPr>
        <p:spPr>
          <a:xfrm>
            <a:off x="11497955" y="6510528"/>
            <a:ext cx="160646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 txBox="1"/>
          <p:nvPr/>
        </p:nvSpPr>
        <p:spPr>
          <a:xfrm>
            <a:off x="594359" y="751331"/>
            <a:ext cx="347472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30" sz="1000">
                <a:solidFill>
                  <a:srgbClr val="14B8A6"/>
                </a:solidFill>
              </a:defRPr>
            </a:lvl1pPr>
          </a:lstStyle>
          <a:p>
            <a:pPr/>
            <a:r>
              <a:t>01 · PURPOSE</a:t>
            </a:r>
          </a:p>
        </p:txBody>
      </p:sp>
      <p:sp>
        <p:nvSpPr>
          <p:cNvPr id="45" name="Text 1"/>
          <p:cNvSpPr txBox="1"/>
          <p:nvPr/>
        </p:nvSpPr>
        <p:spPr>
          <a:xfrm>
            <a:off x="594359" y="1104392"/>
            <a:ext cx="1069848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F5F3E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Why build the attack agent?</a:t>
            </a:r>
          </a:p>
        </p:txBody>
      </p:sp>
      <p:sp>
        <p:nvSpPr>
          <p:cNvPr id="46" name="Text 2"/>
          <p:cNvSpPr txBox="1"/>
          <p:nvPr/>
        </p:nvSpPr>
        <p:spPr>
          <a:xfrm>
            <a:off x="594359" y="1800351"/>
            <a:ext cx="102412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8A8580"/>
                </a:solidFill>
              </a:defRPr>
            </a:lvl1pPr>
          </a:lstStyle>
          <a:p>
            <a:pPr/>
            <a:r>
              <a:t>We already know many of the joins are implicit. October is about proving and hardening them.</a:t>
            </a:r>
          </a:p>
        </p:txBody>
      </p:sp>
      <p:sp>
        <p:nvSpPr>
          <p:cNvPr id="47" name="Shape 3"/>
          <p:cNvSpPr/>
          <p:nvPr/>
        </p:nvSpPr>
        <p:spPr>
          <a:xfrm>
            <a:off x="685800" y="2423160"/>
            <a:ext cx="3154680" cy="2971801"/>
          </a:xfrm>
          <a:prstGeom prst="roundRect">
            <a:avLst>
              <a:gd name="adj" fmla="val 2462"/>
            </a:avLst>
          </a:prstGeom>
          <a:solidFill>
            <a:srgbClr val="131210"/>
          </a:solidFill>
          <a:ln w="12700">
            <a:solidFill>
              <a:srgbClr val="5B8DE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Shape 4"/>
          <p:cNvSpPr/>
          <p:nvPr/>
        </p:nvSpPr>
        <p:spPr>
          <a:xfrm>
            <a:off x="941832" y="2697479"/>
            <a:ext cx="438913" cy="438913"/>
          </a:xfrm>
          <a:prstGeom prst="ellipse">
            <a:avLst/>
          </a:prstGeom>
          <a:solidFill>
            <a:srgbClr val="5B8DEF">
              <a:alpha val="94000"/>
            </a:srgbClr>
          </a:solidFill>
          <a:ln w="12700">
            <a:solidFill>
              <a:srgbClr val="5B8DE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Text 5"/>
          <p:cNvSpPr txBox="1"/>
          <p:nvPr/>
        </p:nvSpPr>
        <p:spPr>
          <a:xfrm>
            <a:off x="941832" y="2791460"/>
            <a:ext cx="43891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E0D0C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0" name="Text 6"/>
          <p:cNvSpPr txBox="1"/>
          <p:nvPr/>
        </p:nvSpPr>
        <p:spPr>
          <a:xfrm>
            <a:off x="941832" y="3328923"/>
            <a:ext cx="256032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F5F3E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Define what must stay true</a:t>
            </a:r>
          </a:p>
        </p:txBody>
      </p:sp>
      <p:sp>
        <p:nvSpPr>
          <p:cNvPr id="51" name="Text 7"/>
          <p:cNvSpPr txBox="1"/>
          <p:nvPr/>
        </p:nvSpPr>
        <p:spPr>
          <a:xfrm>
            <a:off x="941832" y="4194047"/>
            <a:ext cx="2578608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8A8580"/>
                </a:solidFill>
              </a:defRPr>
            </a:lvl1pPr>
          </a:lstStyle>
          <a:p>
            <a:pPr/>
            <a:r>
              <a:t>State ownership, durability, relationships, contracts, retries, concurrency and recovery.</a:t>
            </a:r>
          </a:p>
        </p:txBody>
      </p:sp>
      <p:sp>
        <p:nvSpPr>
          <p:cNvPr id="52" name="Shape 8"/>
          <p:cNvSpPr/>
          <p:nvPr/>
        </p:nvSpPr>
        <p:spPr>
          <a:xfrm>
            <a:off x="4160520" y="2423160"/>
            <a:ext cx="3154680" cy="2971801"/>
          </a:xfrm>
          <a:prstGeom prst="roundRect">
            <a:avLst>
              <a:gd name="adj" fmla="val 2462"/>
            </a:avLst>
          </a:prstGeom>
          <a:solidFill>
            <a:srgbClr val="131210"/>
          </a:solidFill>
          <a:ln w="12700">
            <a:solidFill>
              <a:srgbClr val="E567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Shape 9"/>
          <p:cNvSpPr/>
          <p:nvPr/>
        </p:nvSpPr>
        <p:spPr>
          <a:xfrm>
            <a:off x="4416552" y="2697479"/>
            <a:ext cx="438913" cy="438913"/>
          </a:xfrm>
          <a:prstGeom prst="ellipse">
            <a:avLst/>
          </a:prstGeom>
          <a:solidFill>
            <a:srgbClr val="E5675C">
              <a:alpha val="94000"/>
            </a:srgbClr>
          </a:solidFill>
          <a:ln w="12700">
            <a:solidFill>
              <a:srgbClr val="E567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10"/>
          <p:cNvSpPr txBox="1"/>
          <p:nvPr/>
        </p:nvSpPr>
        <p:spPr>
          <a:xfrm>
            <a:off x="4416552" y="2791460"/>
            <a:ext cx="43891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E0D0C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5" name="Text 11"/>
          <p:cNvSpPr txBox="1"/>
          <p:nvPr/>
        </p:nvSpPr>
        <p:spPr>
          <a:xfrm>
            <a:off x="4416552" y="3328923"/>
            <a:ext cx="256032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F5F3E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Attack those assumptions</a:t>
            </a:r>
          </a:p>
        </p:txBody>
      </p:sp>
      <p:sp>
        <p:nvSpPr>
          <p:cNvPr id="56" name="Text 12"/>
          <p:cNvSpPr txBox="1"/>
          <p:nvPr/>
        </p:nvSpPr>
        <p:spPr>
          <a:xfrm>
            <a:off x="4416552" y="4092447"/>
            <a:ext cx="2578608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8A8580"/>
                </a:solidFill>
              </a:defRPr>
            </a:lvl1pPr>
          </a:lstStyle>
          <a:p>
            <a:pPr/>
            <a:r>
              <a:t>Create duplicates, retries, race conditions, timeouts, restarts, invalid sequences and partial failures.</a:t>
            </a:r>
          </a:p>
        </p:txBody>
      </p:sp>
      <p:sp>
        <p:nvSpPr>
          <p:cNvPr id="57" name="Shape 13"/>
          <p:cNvSpPr/>
          <p:nvPr/>
        </p:nvSpPr>
        <p:spPr>
          <a:xfrm>
            <a:off x="7635240" y="2423160"/>
            <a:ext cx="3154681" cy="2971801"/>
          </a:xfrm>
          <a:prstGeom prst="roundRect">
            <a:avLst>
              <a:gd name="adj" fmla="val 2462"/>
            </a:avLst>
          </a:prstGeom>
          <a:solidFill>
            <a:srgbClr val="131210"/>
          </a:solidFill>
          <a:ln w="12700">
            <a:solidFill>
              <a:srgbClr val="5FB8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Shape 14"/>
          <p:cNvSpPr/>
          <p:nvPr/>
        </p:nvSpPr>
        <p:spPr>
          <a:xfrm>
            <a:off x="7891271" y="2697479"/>
            <a:ext cx="438913" cy="438913"/>
          </a:xfrm>
          <a:prstGeom prst="ellipse">
            <a:avLst/>
          </a:prstGeom>
          <a:solidFill>
            <a:srgbClr val="5FB873">
              <a:alpha val="94000"/>
            </a:srgbClr>
          </a:solidFill>
          <a:ln w="12700">
            <a:solidFill>
              <a:srgbClr val="5FB8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15"/>
          <p:cNvSpPr txBox="1"/>
          <p:nvPr/>
        </p:nvSpPr>
        <p:spPr>
          <a:xfrm>
            <a:off x="7891271" y="2791460"/>
            <a:ext cx="43891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E0D0C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0" name="Text 16"/>
          <p:cNvSpPr txBox="1"/>
          <p:nvPr/>
        </p:nvSpPr>
        <p:spPr>
          <a:xfrm>
            <a:off x="7891271" y="3328923"/>
            <a:ext cx="256032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F5F3E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Turn findings into protection</a:t>
            </a:r>
          </a:p>
        </p:txBody>
      </p:sp>
      <p:sp>
        <p:nvSpPr>
          <p:cNvPr id="61" name="Text 17"/>
          <p:cNvSpPr txBox="1"/>
          <p:nvPr/>
        </p:nvSpPr>
        <p:spPr>
          <a:xfrm>
            <a:off x="7891271" y="4194047"/>
            <a:ext cx="2578609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8A8580"/>
                </a:solidFill>
              </a:defRPr>
            </a:lvl1pPr>
          </a:lstStyle>
          <a:p>
            <a:pPr/>
            <a:r>
              <a:t>Fix the underlying weakness, rerun the scenario and keep it as a regression test.</a:t>
            </a:r>
          </a:p>
        </p:txBody>
      </p:sp>
      <p:sp>
        <p:nvSpPr>
          <p:cNvPr id="62" name="Slide Number Placeholder 0"/>
          <p:cNvSpPr txBox="1"/>
          <p:nvPr>
            <p:ph type="sldNum" sz="quarter" idx="4294967295"/>
          </p:nvPr>
        </p:nvSpPr>
        <p:spPr>
          <a:xfrm>
            <a:off x="11497955" y="6510528"/>
            <a:ext cx="160646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 txBox="1"/>
          <p:nvPr/>
        </p:nvSpPr>
        <p:spPr>
          <a:xfrm>
            <a:off x="594359" y="751331"/>
            <a:ext cx="347472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30" sz="1000">
                <a:solidFill>
                  <a:srgbClr val="14B8A6"/>
                </a:solidFill>
              </a:defRPr>
            </a:lvl1pPr>
          </a:lstStyle>
          <a:p>
            <a:pPr/>
            <a:r>
              <a:t>02 · SCOPE</a:t>
            </a:r>
          </a:p>
        </p:txBody>
      </p:sp>
      <p:sp>
        <p:nvSpPr>
          <p:cNvPr id="67" name="Text 1"/>
          <p:cNvSpPr txBox="1"/>
          <p:nvPr/>
        </p:nvSpPr>
        <p:spPr>
          <a:xfrm>
            <a:off x="594359" y="1104392"/>
            <a:ext cx="1069848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F5F3E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What should the agent challenge?</a:t>
            </a:r>
          </a:p>
        </p:txBody>
      </p:sp>
      <p:sp>
        <p:nvSpPr>
          <p:cNvPr id="68" name="Text 2"/>
          <p:cNvSpPr txBox="1"/>
          <p:nvPr/>
        </p:nvSpPr>
        <p:spPr>
          <a:xfrm>
            <a:off x="594359" y="1800351"/>
            <a:ext cx="102412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8A8580"/>
                </a:solidFill>
              </a:defRPr>
            </a:lvl1pPr>
          </a:lstStyle>
          <a:p>
            <a:pPr/>
            <a:r>
              <a:t>Focus: backend infrastructure and data quality — not scanner/collector functionality or product UX.</a:t>
            </a:r>
          </a:p>
        </p:txBody>
      </p:sp>
      <p:sp>
        <p:nvSpPr>
          <p:cNvPr id="69" name="Shape 3"/>
          <p:cNvSpPr/>
          <p:nvPr/>
        </p:nvSpPr>
        <p:spPr>
          <a:xfrm>
            <a:off x="685800" y="2377439"/>
            <a:ext cx="5074921" cy="877825"/>
          </a:xfrm>
          <a:prstGeom prst="roundRect">
            <a:avLst>
              <a:gd name="adj" fmla="val 8333"/>
            </a:avLst>
          </a:prstGeom>
          <a:solidFill>
            <a:srgbClr val="131210"/>
          </a:solidFill>
          <a:ln w="12700">
            <a:solidFill>
              <a:srgbClr val="221F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Shape 4"/>
          <p:cNvSpPr/>
          <p:nvPr/>
        </p:nvSpPr>
        <p:spPr>
          <a:xfrm>
            <a:off x="685799" y="2377439"/>
            <a:ext cx="73154" cy="877825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5"/>
          <p:cNvSpPr txBox="1"/>
          <p:nvPr/>
        </p:nvSpPr>
        <p:spPr>
          <a:xfrm>
            <a:off x="941832" y="2543810"/>
            <a:ext cx="117043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5F3EF"/>
                </a:solidFill>
              </a:defRPr>
            </a:lvl1pPr>
          </a:lstStyle>
          <a:p>
            <a:pPr/>
            <a:r>
              <a:t>Data integrity</a:t>
            </a:r>
          </a:p>
        </p:txBody>
      </p:sp>
      <p:sp>
        <p:nvSpPr>
          <p:cNvPr id="72" name="Text 6"/>
          <p:cNvSpPr txBox="1"/>
          <p:nvPr/>
        </p:nvSpPr>
        <p:spPr>
          <a:xfrm>
            <a:off x="2194559" y="2578100"/>
            <a:ext cx="324612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580"/>
                </a:solidFill>
              </a:defRPr>
            </a:lvl1pPr>
          </a:lstStyle>
          <a:p>
            <a:pPr/>
            <a:r>
              <a:t>Duplicates · orphaned relationships · stale state · contradictory records</a:t>
            </a:r>
          </a:p>
        </p:txBody>
      </p:sp>
      <p:sp>
        <p:nvSpPr>
          <p:cNvPr id="73" name="Shape 7"/>
          <p:cNvSpPr/>
          <p:nvPr/>
        </p:nvSpPr>
        <p:spPr>
          <a:xfrm>
            <a:off x="6217920" y="2377439"/>
            <a:ext cx="5074921" cy="877825"/>
          </a:xfrm>
          <a:prstGeom prst="roundRect">
            <a:avLst>
              <a:gd name="adj" fmla="val 8333"/>
            </a:avLst>
          </a:prstGeom>
          <a:solidFill>
            <a:srgbClr val="131210"/>
          </a:solidFill>
          <a:ln w="12700">
            <a:solidFill>
              <a:srgbClr val="221F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hape 8"/>
          <p:cNvSpPr/>
          <p:nvPr/>
        </p:nvSpPr>
        <p:spPr>
          <a:xfrm>
            <a:off x="6217920" y="2377439"/>
            <a:ext cx="73153" cy="877825"/>
          </a:xfrm>
          <a:prstGeom prst="rect">
            <a:avLst/>
          </a:prstGeom>
          <a:solidFill>
            <a:srgbClr val="E5675C"/>
          </a:solidFill>
          <a:ln w="12700">
            <a:solidFill>
              <a:srgbClr val="E567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Text 9"/>
          <p:cNvSpPr txBox="1"/>
          <p:nvPr/>
        </p:nvSpPr>
        <p:spPr>
          <a:xfrm>
            <a:off x="6473952" y="2435860"/>
            <a:ext cx="1170433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5F3EF"/>
                </a:solidFill>
              </a:defRPr>
            </a:lvl1pPr>
          </a:lstStyle>
          <a:p>
            <a:pPr/>
            <a:r>
              <a:t>Failure behaviour</a:t>
            </a:r>
          </a:p>
        </p:txBody>
      </p:sp>
      <p:sp>
        <p:nvSpPr>
          <p:cNvPr id="76" name="Text 10"/>
          <p:cNvSpPr txBox="1"/>
          <p:nvPr/>
        </p:nvSpPr>
        <p:spPr>
          <a:xfrm>
            <a:off x="7726680" y="2578100"/>
            <a:ext cx="324612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580"/>
                </a:solidFill>
              </a:defRPr>
            </a:lvl1pPr>
          </a:lstStyle>
          <a:p>
            <a:pPr/>
            <a:r>
              <a:t>Partial writes · retries · timeouts · interrupted operations</a:t>
            </a:r>
          </a:p>
        </p:txBody>
      </p:sp>
      <p:sp>
        <p:nvSpPr>
          <p:cNvPr id="77" name="Shape 11"/>
          <p:cNvSpPr/>
          <p:nvPr/>
        </p:nvSpPr>
        <p:spPr>
          <a:xfrm>
            <a:off x="685800" y="3520440"/>
            <a:ext cx="5074921" cy="877825"/>
          </a:xfrm>
          <a:prstGeom prst="roundRect">
            <a:avLst>
              <a:gd name="adj" fmla="val 8333"/>
            </a:avLst>
          </a:prstGeom>
          <a:solidFill>
            <a:srgbClr val="131210"/>
          </a:solidFill>
          <a:ln w="12700">
            <a:solidFill>
              <a:srgbClr val="221F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Shape 12"/>
          <p:cNvSpPr/>
          <p:nvPr/>
        </p:nvSpPr>
        <p:spPr>
          <a:xfrm>
            <a:off x="685799" y="3520440"/>
            <a:ext cx="73154" cy="877825"/>
          </a:xfrm>
          <a:prstGeom prst="rect">
            <a:avLst/>
          </a:prstGeom>
          <a:solidFill>
            <a:srgbClr val="E0A93B"/>
          </a:solidFill>
          <a:ln w="12700">
            <a:solidFill>
              <a:srgbClr val="E0A93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13"/>
          <p:cNvSpPr txBox="1"/>
          <p:nvPr/>
        </p:nvSpPr>
        <p:spPr>
          <a:xfrm>
            <a:off x="941832" y="3686810"/>
            <a:ext cx="117043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5F3EF"/>
                </a:solidFill>
              </a:defRPr>
            </a:lvl1pPr>
          </a:lstStyle>
          <a:p>
            <a:pPr/>
            <a:r>
              <a:t>Concurrency</a:t>
            </a:r>
          </a:p>
        </p:txBody>
      </p:sp>
      <p:sp>
        <p:nvSpPr>
          <p:cNvPr id="80" name="Text 14"/>
          <p:cNvSpPr txBox="1"/>
          <p:nvPr/>
        </p:nvSpPr>
        <p:spPr>
          <a:xfrm>
            <a:off x="2194559" y="3721100"/>
            <a:ext cx="324612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580"/>
                </a:solidFill>
              </a:defRPr>
            </a:lvl1pPr>
          </a:lstStyle>
          <a:p>
            <a:pPr/>
            <a:r>
              <a:t>Race conditions · simultaneous updates · idempotency</a:t>
            </a:r>
          </a:p>
        </p:txBody>
      </p:sp>
      <p:sp>
        <p:nvSpPr>
          <p:cNvPr id="81" name="Shape 15"/>
          <p:cNvSpPr/>
          <p:nvPr/>
        </p:nvSpPr>
        <p:spPr>
          <a:xfrm>
            <a:off x="6217920" y="3520440"/>
            <a:ext cx="5074921" cy="877825"/>
          </a:xfrm>
          <a:prstGeom prst="roundRect">
            <a:avLst>
              <a:gd name="adj" fmla="val 8333"/>
            </a:avLst>
          </a:prstGeom>
          <a:solidFill>
            <a:srgbClr val="131210"/>
          </a:solidFill>
          <a:ln w="12700">
            <a:solidFill>
              <a:srgbClr val="221F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Shape 16"/>
          <p:cNvSpPr/>
          <p:nvPr/>
        </p:nvSpPr>
        <p:spPr>
          <a:xfrm>
            <a:off x="6217920" y="3520440"/>
            <a:ext cx="73153" cy="877825"/>
          </a:xfrm>
          <a:prstGeom prst="rect">
            <a:avLst/>
          </a:prstGeom>
          <a:solidFill>
            <a:srgbClr val="5FB873"/>
          </a:solidFill>
          <a:ln w="12700">
            <a:solidFill>
              <a:srgbClr val="5FB8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17"/>
          <p:cNvSpPr txBox="1"/>
          <p:nvPr/>
        </p:nvSpPr>
        <p:spPr>
          <a:xfrm>
            <a:off x="6473952" y="3686810"/>
            <a:ext cx="117043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5F3EF"/>
                </a:solidFill>
              </a:defRPr>
            </a:lvl1pPr>
          </a:lstStyle>
          <a:p>
            <a:pPr/>
            <a:r>
              <a:t>Durability</a:t>
            </a:r>
          </a:p>
        </p:txBody>
      </p:sp>
      <p:sp>
        <p:nvSpPr>
          <p:cNvPr id="84" name="Text 18"/>
          <p:cNvSpPr txBox="1"/>
          <p:nvPr/>
        </p:nvSpPr>
        <p:spPr>
          <a:xfrm>
            <a:off x="7726680" y="3721100"/>
            <a:ext cx="324612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580"/>
                </a:solidFill>
              </a:defRPr>
            </a:lvl1pPr>
          </a:lstStyle>
          <a:p>
            <a:pPr/>
            <a:r>
              <a:t>Restart · redeploy · instance change · persistent state</a:t>
            </a:r>
          </a:p>
        </p:txBody>
      </p:sp>
      <p:sp>
        <p:nvSpPr>
          <p:cNvPr id="85" name="Shape 19"/>
          <p:cNvSpPr/>
          <p:nvPr/>
        </p:nvSpPr>
        <p:spPr>
          <a:xfrm>
            <a:off x="685800" y="4663440"/>
            <a:ext cx="5074921" cy="877825"/>
          </a:xfrm>
          <a:prstGeom prst="roundRect">
            <a:avLst>
              <a:gd name="adj" fmla="val 8333"/>
            </a:avLst>
          </a:prstGeom>
          <a:solidFill>
            <a:srgbClr val="131210"/>
          </a:solidFill>
          <a:ln w="12700">
            <a:solidFill>
              <a:srgbClr val="221F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Shape 20"/>
          <p:cNvSpPr/>
          <p:nvPr/>
        </p:nvSpPr>
        <p:spPr>
          <a:xfrm>
            <a:off x="685799" y="4663440"/>
            <a:ext cx="73154" cy="877825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21"/>
          <p:cNvSpPr txBox="1"/>
          <p:nvPr/>
        </p:nvSpPr>
        <p:spPr>
          <a:xfrm>
            <a:off x="941832" y="4829810"/>
            <a:ext cx="117043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5F3EF"/>
                </a:solidFill>
              </a:defRPr>
            </a:lvl1pPr>
          </a:lstStyle>
          <a:p>
            <a:pPr/>
            <a:r>
              <a:t>Contracts</a:t>
            </a:r>
          </a:p>
        </p:txBody>
      </p:sp>
      <p:sp>
        <p:nvSpPr>
          <p:cNvPr id="88" name="Text 22"/>
          <p:cNvSpPr txBox="1"/>
          <p:nvPr/>
        </p:nvSpPr>
        <p:spPr>
          <a:xfrm>
            <a:off x="2194559" y="4864100"/>
            <a:ext cx="324612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580"/>
                </a:solidFill>
              </a:defRPr>
            </a:lvl1pPr>
          </a:lstStyle>
          <a:p>
            <a:pPr/>
            <a:r>
              <a:t>API/schema drift · invalid sequences · consumer mismatch</a:t>
            </a:r>
          </a:p>
        </p:txBody>
      </p:sp>
      <p:sp>
        <p:nvSpPr>
          <p:cNvPr id="89" name="Shape 23"/>
          <p:cNvSpPr/>
          <p:nvPr/>
        </p:nvSpPr>
        <p:spPr>
          <a:xfrm>
            <a:off x="6217920" y="4663440"/>
            <a:ext cx="5074921" cy="877825"/>
          </a:xfrm>
          <a:prstGeom prst="roundRect">
            <a:avLst>
              <a:gd name="adj" fmla="val 8333"/>
            </a:avLst>
          </a:prstGeom>
          <a:solidFill>
            <a:srgbClr val="131210"/>
          </a:solidFill>
          <a:ln w="12700">
            <a:solidFill>
              <a:srgbClr val="221F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Shape 24"/>
          <p:cNvSpPr/>
          <p:nvPr/>
        </p:nvSpPr>
        <p:spPr>
          <a:xfrm>
            <a:off x="6217920" y="4663440"/>
            <a:ext cx="73153" cy="877825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25"/>
          <p:cNvSpPr txBox="1"/>
          <p:nvPr/>
        </p:nvSpPr>
        <p:spPr>
          <a:xfrm>
            <a:off x="6473952" y="4829810"/>
            <a:ext cx="117043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5F3EF"/>
                </a:solidFill>
              </a:defRPr>
            </a:lvl1pPr>
          </a:lstStyle>
          <a:p>
            <a:pPr/>
            <a:r>
              <a:t>Traceability</a:t>
            </a:r>
          </a:p>
        </p:txBody>
      </p:sp>
      <p:sp>
        <p:nvSpPr>
          <p:cNvPr id="92" name="Text 26"/>
          <p:cNvSpPr txBox="1"/>
          <p:nvPr/>
        </p:nvSpPr>
        <p:spPr>
          <a:xfrm>
            <a:off x="7726680" y="4862769"/>
            <a:ext cx="3246121" cy="332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580"/>
                </a:solidFill>
              </a:defRPr>
            </a:lvl1pPr>
          </a:lstStyle>
          <a:p>
            <a:pPr/>
            <a:r>
              <a:t>Request → logs → DB mutation → audit → resulting state</a:t>
            </a:r>
          </a:p>
        </p:txBody>
      </p:sp>
      <p:sp>
        <p:nvSpPr>
          <p:cNvPr id="93" name="Slide Number Placeholder 0"/>
          <p:cNvSpPr txBox="1"/>
          <p:nvPr>
            <p:ph type="sldNum" sz="quarter" idx="4294967295"/>
          </p:nvPr>
        </p:nvSpPr>
        <p:spPr>
          <a:xfrm>
            <a:off x="11497955" y="6510528"/>
            <a:ext cx="160646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 txBox="1"/>
          <p:nvPr/>
        </p:nvSpPr>
        <p:spPr>
          <a:xfrm>
            <a:off x="594359" y="751331"/>
            <a:ext cx="347472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30" sz="1000">
                <a:solidFill>
                  <a:srgbClr val="14B8A6"/>
                </a:solidFill>
              </a:defRPr>
            </a:lvl1pPr>
          </a:lstStyle>
          <a:p>
            <a:pPr/>
            <a:r>
              <a:t>03 · WORKING MODEL</a:t>
            </a:r>
          </a:p>
        </p:txBody>
      </p:sp>
      <p:sp>
        <p:nvSpPr>
          <p:cNvPr id="98" name="Text 1"/>
          <p:cNvSpPr txBox="1"/>
          <p:nvPr/>
        </p:nvSpPr>
        <p:spPr>
          <a:xfrm>
            <a:off x="594359" y="1104392"/>
            <a:ext cx="1069848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F5F3E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The October loop</a:t>
            </a:r>
          </a:p>
        </p:txBody>
      </p:sp>
      <p:sp>
        <p:nvSpPr>
          <p:cNvPr id="99" name="Text 2"/>
          <p:cNvSpPr txBox="1"/>
          <p:nvPr/>
        </p:nvSpPr>
        <p:spPr>
          <a:xfrm>
            <a:off x="594359" y="1800351"/>
            <a:ext cx="102412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8A8580"/>
                </a:solidFill>
              </a:defRPr>
            </a:lvl1pPr>
          </a:lstStyle>
          <a:p>
            <a:pPr/>
            <a:r>
              <a:t>The agent should continuously turn uncertainty into evidence, fixes and repeatable protection.</a:t>
            </a:r>
          </a:p>
        </p:txBody>
      </p:sp>
      <p:sp>
        <p:nvSpPr>
          <p:cNvPr id="100" name="Shape 3"/>
          <p:cNvSpPr/>
          <p:nvPr/>
        </p:nvSpPr>
        <p:spPr>
          <a:xfrm>
            <a:off x="685800" y="2880360"/>
            <a:ext cx="1609345" cy="1417321"/>
          </a:xfrm>
          <a:prstGeom prst="roundRect">
            <a:avLst>
              <a:gd name="adj" fmla="val 5161"/>
            </a:avLst>
          </a:prstGeom>
          <a:solidFill>
            <a:srgbClr val="131210"/>
          </a:solidFill>
          <a:ln w="12700">
            <a:solidFill>
              <a:srgbClr val="5B8DE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4"/>
          <p:cNvSpPr txBox="1"/>
          <p:nvPr/>
        </p:nvSpPr>
        <p:spPr>
          <a:xfrm>
            <a:off x="813815" y="3133344"/>
            <a:ext cx="135331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70" sz="1000">
                <a:solidFill>
                  <a:srgbClr val="5B8DEF"/>
                </a:solidFill>
              </a:defRPr>
            </a:lvl1pPr>
          </a:lstStyle>
          <a:p>
            <a:pPr/>
            <a:r>
              <a:t>DEFINE</a:t>
            </a:r>
          </a:p>
        </p:txBody>
      </p:sp>
      <p:sp>
        <p:nvSpPr>
          <p:cNvPr id="102" name="Text 5"/>
          <p:cNvSpPr txBox="1"/>
          <p:nvPr/>
        </p:nvSpPr>
        <p:spPr>
          <a:xfrm>
            <a:off x="795527" y="3576320"/>
            <a:ext cx="138989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700">
                <a:solidFill>
                  <a:srgbClr val="F5F3E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Invariant</a:t>
            </a:r>
          </a:p>
        </p:txBody>
      </p:sp>
      <p:sp>
        <p:nvSpPr>
          <p:cNvPr id="103" name="Text 6"/>
          <p:cNvSpPr txBox="1"/>
          <p:nvPr/>
        </p:nvSpPr>
        <p:spPr>
          <a:xfrm>
            <a:off x="2313432" y="3377945"/>
            <a:ext cx="20116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5E5A54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04" name="Shape 7"/>
          <p:cNvSpPr/>
          <p:nvPr/>
        </p:nvSpPr>
        <p:spPr>
          <a:xfrm>
            <a:off x="2532888" y="2880360"/>
            <a:ext cx="1609345" cy="1417321"/>
          </a:xfrm>
          <a:prstGeom prst="roundRect">
            <a:avLst>
              <a:gd name="adj" fmla="val 5161"/>
            </a:avLst>
          </a:prstGeom>
          <a:solidFill>
            <a:srgbClr val="131210"/>
          </a:solidFill>
          <a:ln w="12700">
            <a:solidFill>
              <a:srgbClr val="E567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8"/>
          <p:cNvSpPr txBox="1"/>
          <p:nvPr/>
        </p:nvSpPr>
        <p:spPr>
          <a:xfrm>
            <a:off x="2660904" y="3133344"/>
            <a:ext cx="135331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70" sz="1000">
                <a:solidFill>
                  <a:srgbClr val="E5675C"/>
                </a:solidFill>
              </a:defRPr>
            </a:lvl1pPr>
          </a:lstStyle>
          <a:p>
            <a:pPr/>
            <a:r>
              <a:t>ATTACK</a:t>
            </a:r>
          </a:p>
        </p:txBody>
      </p:sp>
      <p:sp>
        <p:nvSpPr>
          <p:cNvPr id="106" name="Text 9"/>
          <p:cNvSpPr txBox="1"/>
          <p:nvPr/>
        </p:nvSpPr>
        <p:spPr>
          <a:xfrm>
            <a:off x="2642616" y="3576320"/>
            <a:ext cx="138988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700">
                <a:solidFill>
                  <a:srgbClr val="F5F3E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Challenge</a:t>
            </a:r>
          </a:p>
        </p:txBody>
      </p:sp>
      <p:sp>
        <p:nvSpPr>
          <p:cNvPr id="107" name="Text 10"/>
          <p:cNvSpPr txBox="1"/>
          <p:nvPr/>
        </p:nvSpPr>
        <p:spPr>
          <a:xfrm>
            <a:off x="4160520" y="3377945"/>
            <a:ext cx="20116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5E5A54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08" name="Shape 11"/>
          <p:cNvSpPr/>
          <p:nvPr/>
        </p:nvSpPr>
        <p:spPr>
          <a:xfrm>
            <a:off x="4379976" y="2880360"/>
            <a:ext cx="1609345" cy="1417321"/>
          </a:xfrm>
          <a:prstGeom prst="roundRect">
            <a:avLst>
              <a:gd name="adj" fmla="val 5161"/>
            </a:avLst>
          </a:prstGeom>
          <a:solidFill>
            <a:srgbClr val="131210"/>
          </a:solidFill>
          <a:ln w="12700">
            <a:solidFill>
              <a:srgbClr val="E0A93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12"/>
          <p:cNvSpPr txBox="1"/>
          <p:nvPr/>
        </p:nvSpPr>
        <p:spPr>
          <a:xfrm>
            <a:off x="4507991" y="3133344"/>
            <a:ext cx="135331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70" sz="1000">
                <a:solidFill>
                  <a:srgbClr val="E0A93B"/>
                </a:solidFill>
              </a:defRPr>
            </a:lvl1pPr>
          </a:lstStyle>
          <a:p>
            <a:pPr/>
            <a:r>
              <a:t>EXPOSE</a:t>
            </a:r>
          </a:p>
        </p:txBody>
      </p:sp>
      <p:sp>
        <p:nvSpPr>
          <p:cNvPr id="110" name="Text 13"/>
          <p:cNvSpPr txBox="1"/>
          <p:nvPr/>
        </p:nvSpPr>
        <p:spPr>
          <a:xfrm>
            <a:off x="4489703" y="3576320"/>
            <a:ext cx="138988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700">
                <a:solidFill>
                  <a:srgbClr val="F5F3E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111" name="Text 14"/>
          <p:cNvSpPr txBox="1"/>
          <p:nvPr/>
        </p:nvSpPr>
        <p:spPr>
          <a:xfrm>
            <a:off x="6007608" y="3377945"/>
            <a:ext cx="20116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5E5A54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12" name="Shape 15"/>
          <p:cNvSpPr/>
          <p:nvPr/>
        </p:nvSpPr>
        <p:spPr>
          <a:xfrm>
            <a:off x="6227064" y="2880360"/>
            <a:ext cx="1609345" cy="1417321"/>
          </a:xfrm>
          <a:prstGeom prst="roundRect">
            <a:avLst>
              <a:gd name="adj" fmla="val 5161"/>
            </a:avLst>
          </a:prstGeom>
          <a:solidFill>
            <a:srgbClr val="131210"/>
          </a:solidFill>
          <a:ln w="12700">
            <a:solidFill>
              <a:srgbClr val="5FB8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16"/>
          <p:cNvSpPr txBox="1"/>
          <p:nvPr/>
        </p:nvSpPr>
        <p:spPr>
          <a:xfrm>
            <a:off x="6355079" y="3133344"/>
            <a:ext cx="135331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70" sz="1000">
                <a:solidFill>
                  <a:srgbClr val="5FB873"/>
                </a:solidFill>
              </a:defRPr>
            </a:lvl1pPr>
          </a:lstStyle>
          <a:p>
            <a:pPr/>
            <a:r>
              <a:t>FIX</a:t>
            </a:r>
          </a:p>
        </p:txBody>
      </p:sp>
      <p:sp>
        <p:nvSpPr>
          <p:cNvPr id="114" name="Text 17"/>
          <p:cNvSpPr txBox="1"/>
          <p:nvPr/>
        </p:nvSpPr>
        <p:spPr>
          <a:xfrm>
            <a:off x="6336791" y="3576320"/>
            <a:ext cx="138988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700">
                <a:solidFill>
                  <a:srgbClr val="F5F3E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Root cause</a:t>
            </a:r>
          </a:p>
        </p:txBody>
      </p:sp>
      <p:sp>
        <p:nvSpPr>
          <p:cNvPr id="115" name="Text 18"/>
          <p:cNvSpPr txBox="1"/>
          <p:nvPr/>
        </p:nvSpPr>
        <p:spPr>
          <a:xfrm>
            <a:off x="7854695" y="3377945"/>
            <a:ext cx="20116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5E5A54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16" name="Shape 19"/>
          <p:cNvSpPr/>
          <p:nvPr/>
        </p:nvSpPr>
        <p:spPr>
          <a:xfrm>
            <a:off x="8074152" y="2880360"/>
            <a:ext cx="1609345" cy="1417321"/>
          </a:xfrm>
          <a:prstGeom prst="roundRect">
            <a:avLst>
              <a:gd name="adj" fmla="val 5161"/>
            </a:avLst>
          </a:prstGeom>
          <a:solidFill>
            <a:srgbClr val="131210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20"/>
          <p:cNvSpPr txBox="1"/>
          <p:nvPr/>
        </p:nvSpPr>
        <p:spPr>
          <a:xfrm>
            <a:off x="8202168" y="3133344"/>
            <a:ext cx="135331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70" sz="1000">
                <a:solidFill>
                  <a:srgbClr val="14B8A6"/>
                </a:solidFill>
              </a:defRPr>
            </a:lvl1pPr>
          </a:lstStyle>
          <a:p>
            <a:pPr/>
            <a:r>
              <a:t>RE-ATTACK</a:t>
            </a:r>
          </a:p>
        </p:txBody>
      </p:sp>
      <p:sp>
        <p:nvSpPr>
          <p:cNvPr id="118" name="Text 21"/>
          <p:cNvSpPr txBox="1"/>
          <p:nvPr/>
        </p:nvSpPr>
        <p:spPr>
          <a:xfrm>
            <a:off x="8183880" y="3576320"/>
            <a:ext cx="138988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700">
                <a:solidFill>
                  <a:srgbClr val="F5F3E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Verify</a:t>
            </a:r>
          </a:p>
        </p:txBody>
      </p:sp>
      <p:sp>
        <p:nvSpPr>
          <p:cNvPr id="119" name="Text 22"/>
          <p:cNvSpPr txBox="1"/>
          <p:nvPr/>
        </p:nvSpPr>
        <p:spPr>
          <a:xfrm>
            <a:off x="9701783" y="3377945"/>
            <a:ext cx="20116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5E5A54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20" name="Shape 23"/>
          <p:cNvSpPr/>
          <p:nvPr/>
        </p:nvSpPr>
        <p:spPr>
          <a:xfrm>
            <a:off x="9921240" y="2880360"/>
            <a:ext cx="1609345" cy="1417321"/>
          </a:xfrm>
          <a:prstGeom prst="roundRect">
            <a:avLst>
              <a:gd name="adj" fmla="val 5161"/>
            </a:avLst>
          </a:prstGeom>
          <a:solidFill>
            <a:srgbClr val="131210"/>
          </a:solidFill>
          <a:ln w="12700">
            <a:solidFill>
              <a:srgbClr val="5FB8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24"/>
          <p:cNvSpPr txBox="1"/>
          <p:nvPr/>
        </p:nvSpPr>
        <p:spPr>
          <a:xfrm>
            <a:off x="10049256" y="3133344"/>
            <a:ext cx="135331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70" sz="1000">
                <a:solidFill>
                  <a:srgbClr val="5FB873"/>
                </a:solidFill>
              </a:defRPr>
            </a:lvl1pPr>
          </a:lstStyle>
          <a:p>
            <a:pPr/>
            <a:r>
              <a:t>KEEP</a:t>
            </a:r>
          </a:p>
        </p:txBody>
      </p:sp>
      <p:sp>
        <p:nvSpPr>
          <p:cNvPr id="122" name="Text 25"/>
          <p:cNvSpPr txBox="1"/>
          <p:nvPr/>
        </p:nvSpPr>
        <p:spPr>
          <a:xfrm>
            <a:off x="10030968" y="3449320"/>
            <a:ext cx="1389889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700">
                <a:solidFill>
                  <a:srgbClr val="F5F3E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Regression test</a:t>
            </a:r>
          </a:p>
        </p:txBody>
      </p:sp>
      <p:sp>
        <p:nvSpPr>
          <p:cNvPr id="123" name="Text 26"/>
          <p:cNvSpPr txBox="1"/>
          <p:nvPr/>
        </p:nvSpPr>
        <p:spPr>
          <a:xfrm>
            <a:off x="960120" y="5061374"/>
            <a:ext cx="10195560" cy="438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8A8580"/>
                </a:solidFill>
              </a:defRPr>
            </a:lvl1pPr>
          </a:lstStyle>
          <a:p>
            <a:pPr/>
            <a:r>
              <a:t>Example: “A retry must not create duplicate state.” → send the same write repeatedly after a timeout → inspect resulting state → fix idempotency → rerun → keep the test.</a:t>
            </a:r>
          </a:p>
        </p:txBody>
      </p:sp>
      <p:sp>
        <p:nvSpPr>
          <p:cNvPr id="124" name="Slide Number Placeholder 0"/>
          <p:cNvSpPr txBox="1"/>
          <p:nvPr>
            <p:ph type="sldNum" sz="quarter" idx="4294967295"/>
          </p:nvPr>
        </p:nvSpPr>
        <p:spPr>
          <a:xfrm>
            <a:off x="11497955" y="6510528"/>
            <a:ext cx="160646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 txBox="1"/>
          <p:nvPr/>
        </p:nvSpPr>
        <p:spPr>
          <a:xfrm>
            <a:off x="594359" y="751331"/>
            <a:ext cx="347472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30" sz="1000">
                <a:solidFill>
                  <a:srgbClr val="14B8A6"/>
                </a:solidFill>
              </a:defRPr>
            </a:lvl1pPr>
          </a:lstStyle>
          <a:p>
            <a:pPr/>
            <a:r>
              <a:t>04 · DEFINITION OF DONE</a:t>
            </a:r>
          </a:p>
        </p:txBody>
      </p:sp>
      <p:sp>
        <p:nvSpPr>
          <p:cNvPr id="129" name="Text 1"/>
          <p:cNvSpPr txBox="1"/>
          <p:nvPr/>
        </p:nvSpPr>
        <p:spPr>
          <a:xfrm>
            <a:off x="594359" y="1104392"/>
            <a:ext cx="1069848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F5F3E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What must be true by 31 October?</a:t>
            </a:r>
          </a:p>
        </p:txBody>
      </p:sp>
      <p:sp>
        <p:nvSpPr>
          <p:cNvPr id="130" name="Text 2"/>
          <p:cNvSpPr txBox="1"/>
          <p:nvPr/>
        </p:nvSpPr>
        <p:spPr>
          <a:xfrm>
            <a:off x="594359" y="1800351"/>
            <a:ext cx="102412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8A8580"/>
                </a:solidFill>
              </a:defRPr>
            </a:lvl1pPr>
          </a:lstStyle>
          <a:p>
            <a:pPr/>
            <a:r>
              <a:t>A clear end state, not an open-ended infrastructure programme.</a:t>
            </a:r>
          </a:p>
        </p:txBody>
      </p:sp>
      <p:sp>
        <p:nvSpPr>
          <p:cNvPr id="131" name="Shape 3"/>
          <p:cNvSpPr/>
          <p:nvPr/>
        </p:nvSpPr>
        <p:spPr>
          <a:xfrm>
            <a:off x="777240" y="2386583"/>
            <a:ext cx="256033" cy="256033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Text 4"/>
          <p:cNvSpPr txBox="1"/>
          <p:nvPr/>
        </p:nvSpPr>
        <p:spPr>
          <a:xfrm>
            <a:off x="800100" y="2415539"/>
            <a:ext cx="21031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E0D0C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33" name="Text 5"/>
          <p:cNvSpPr txBox="1"/>
          <p:nvPr/>
        </p:nvSpPr>
        <p:spPr>
          <a:xfrm>
            <a:off x="1188720" y="2360930"/>
            <a:ext cx="42519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5F3EF"/>
                </a:solidFill>
              </a:defRPr>
            </a:lvl1pPr>
          </a:lstStyle>
          <a:p>
            <a:pPr/>
            <a:r>
              <a:t>Working attack capability</a:t>
            </a:r>
          </a:p>
        </p:txBody>
      </p:sp>
      <p:sp>
        <p:nvSpPr>
          <p:cNvPr id="134" name="Text 6"/>
          <p:cNvSpPr txBox="1"/>
          <p:nvPr/>
        </p:nvSpPr>
        <p:spPr>
          <a:xfrm>
            <a:off x="1188719" y="2770378"/>
            <a:ext cx="4343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580"/>
                </a:solidFill>
              </a:defRPr>
            </a:lvl1pPr>
          </a:lstStyle>
          <a:p>
            <a:pPr/>
            <a:r>
              <a:t>Reusable against selected real backend flows.</a:t>
            </a:r>
          </a:p>
        </p:txBody>
      </p:sp>
      <p:sp>
        <p:nvSpPr>
          <p:cNvPr id="135" name="Shape 7"/>
          <p:cNvSpPr/>
          <p:nvPr/>
        </p:nvSpPr>
        <p:spPr>
          <a:xfrm>
            <a:off x="777240" y="3319271"/>
            <a:ext cx="256033" cy="256033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8"/>
          <p:cNvSpPr txBox="1"/>
          <p:nvPr/>
        </p:nvSpPr>
        <p:spPr>
          <a:xfrm>
            <a:off x="800100" y="3348227"/>
            <a:ext cx="21031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E0D0C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37" name="Text 9"/>
          <p:cNvSpPr txBox="1"/>
          <p:nvPr/>
        </p:nvSpPr>
        <p:spPr>
          <a:xfrm>
            <a:off x="1188720" y="3293618"/>
            <a:ext cx="42519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5F3EF"/>
                </a:solidFill>
              </a:defRPr>
            </a:lvl1pPr>
          </a:lstStyle>
          <a:p>
            <a:pPr/>
            <a:r>
              <a:t>Critical invariants defined</a:t>
            </a:r>
          </a:p>
        </p:txBody>
      </p:sp>
      <p:sp>
        <p:nvSpPr>
          <p:cNvPr id="138" name="Text 10"/>
          <p:cNvSpPr txBox="1"/>
          <p:nvPr/>
        </p:nvSpPr>
        <p:spPr>
          <a:xfrm>
            <a:off x="1188719" y="3703065"/>
            <a:ext cx="4343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580"/>
                </a:solidFill>
              </a:defRPr>
            </a:lvl1pPr>
          </a:lstStyle>
          <a:p>
            <a:pPr/>
            <a:r>
              <a:t>We know what must always remain true.</a:t>
            </a:r>
          </a:p>
        </p:txBody>
      </p:sp>
      <p:sp>
        <p:nvSpPr>
          <p:cNvPr id="139" name="Shape 11"/>
          <p:cNvSpPr/>
          <p:nvPr/>
        </p:nvSpPr>
        <p:spPr>
          <a:xfrm>
            <a:off x="777240" y="4251959"/>
            <a:ext cx="256033" cy="256033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12"/>
          <p:cNvSpPr txBox="1"/>
          <p:nvPr/>
        </p:nvSpPr>
        <p:spPr>
          <a:xfrm>
            <a:off x="800100" y="4280915"/>
            <a:ext cx="21031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E0D0C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1" name="Text 13"/>
          <p:cNvSpPr txBox="1"/>
          <p:nvPr/>
        </p:nvSpPr>
        <p:spPr>
          <a:xfrm>
            <a:off x="1188720" y="4226306"/>
            <a:ext cx="42519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5F3EF"/>
                </a:solidFill>
              </a:defRPr>
            </a:lvl1pPr>
          </a:lstStyle>
          <a:p>
            <a:pPr/>
            <a:r>
              <a:t>Used on the real backend</a:t>
            </a:r>
          </a:p>
        </p:txBody>
      </p:sp>
      <p:sp>
        <p:nvSpPr>
          <p:cNvPr id="142" name="Text 14"/>
          <p:cNvSpPr txBox="1"/>
          <p:nvPr/>
        </p:nvSpPr>
        <p:spPr>
          <a:xfrm>
            <a:off x="1188719" y="4635753"/>
            <a:ext cx="4343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580"/>
                </a:solidFill>
              </a:defRPr>
            </a:lvl1pPr>
          </a:lstStyle>
          <a:p>
            <a:pPr/>
            <a:r>
              <a:t>Applied to live backend flows.</a:t>
            </a:r>
          </a:p>
        </p:txBody>
      </p:sp>
      <p:sp>
        <p:nvSpPr>
          <p:cNvPr id="143" name="Shape 15"/>
          <p:cNvSpPr/>
          <p:nvPr/>
        </p:nvSpPr>
        <p:spPr>
          <a:xfrm>
            <a:off x="777240" y="5184647"/>
            <a:ext cx="256033" cy="256033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16"/>
          <p:cNvSpPr txBox="1"/>
          <p:nvPr/>
        </p:nvSpPr>
        <p:spPr>
          <a:xfrm>
            <a:off x="800100" y="5213603"/>
            <a:ext cx="21031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E0D0C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5" name="Text 17"/>
          <p:cNvSpPr txBox="1"/>
          <p:nvPr/>
        </p:nvSpPr>
        <p:spPr>
          <a:xfrm>
            <a:off x="1188720" y="5158994"/>
            <a:ext cx="42519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5F3EF"/>
                </a:solidFill>
              </a:defRPr>
            </a:lvl1pPr>
          </a:lstStyle>
          <a:p>
            <a:pPr/>
            <a:r>
              <a:t>Critical findings fixed</a:t>
            </a:r>
          </a:p>
        </p:txBody>
      </p:sp>
      <p:sp>
        <p:nvSpPr>
          <p:cNvPr id="146" name="Text 18"/>
          <p:cNvSpPr txBox="1"/>
          <p:nvPr/>
        </p:nvSpPr>
        <p:spPr>
          <a:xfrm>
            <a:off x="1188719" y="5568441"/>
            <a:ext cx="4343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580"/>
                </a:solidFill>
              </a:defRPr>
            </a:lvl1pPr>
          </a:lstStyle>
          <a:p>
            <a:pPr/>
            <a:r>
              <a:t>And retained as repeatable regression tests.</a:t>
            </a:r>
          </a:p>
        </p:txBody>
      </p:sp>
      <p:sp>
        <p:nvSpPr>
          <p:cNvPr id="147" name="Shape 19"/>
          <p:cNvSpPr/>
          <p:nvPr/>
        </p:nvSpPr>
        <p:spPr>
          <a:xfrm>
            <a:off x="6172200" y="2386583"/>
            <a:ext cx="256032" cy="256033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20"/>
          <p:cNvSpPr txBox="1"/>
          <p:nvPr/>
        </p:nvSpPr>
        <p:spPr>
          <a:xfrm>
            <a:off x="6195059" y="2415539"/>
            <a:ext cx="21031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E0D0C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9" name="Text 21"/>
          <p:cNvSpPr txBox="1"/>
          <p:nvPr/>
        </p:nvSpPr>
        <p:spPr>
          <a:xfrm>
            <a:off x="6583680" y="2360930"/>
            <a:ext cx="42519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5F3EF"/>
                </a:solidFill>
              </a:defRPr>
            </a:lvl1pPr>
          </a:lstStyle>
          <a:p>
            <a:pPr/>
            <a:r>
              <a:t>Data remains trustworthy</a:t>
            </a:r>
          </a:p>
        </p:txBody>
      </p:sp>
      <p:sp>
        <p:nvSpPr>
          <p:cNvPr id="150" name="Text 22"/>
          <p:cNvSpPr txBox="1"/>
          <p:nvPr/>
        </p:nvSpPr>
        <p:spPr>
          <a:xfrm>
            <a:off x="6583680" y="2770378"/>
            <a:ext cx="4343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580"/>
                </a:solidFill>
              </a:defRPr>
            </a:lvl1pPr>
          </a:lstStyle>
          <a:p>
            <a:pPr/>
            <a:r>
              <a:t>Through retries, failures, restarts and concurrency.</a:t>
            </a:r>
          </a:p>
        </p:txBody>
      </p:sp>
      <p:sp>
        <p:nvSpPr>
          <p:cNvPr id="151" name="Shape 23"/>
          <p:cNvSpPr/>
          <p:nvPr/>
        </p:nvSpPr>
        <p:spPr>
          <a:xfrm>
            <a:off x="6172200" y="3319271"/>
            <a:ext cx="256032" cy="256033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Text 24"/>
          <p:cNvSpPr txBox="1"/>
          <p:nvPr/>
        </p:nvSpPr>
        <p:spPr>
          <a:xfrm>
            <a:off x="6195059" y="3348227"/>
            <a:ext cx="21031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E0D0C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53" name="Text 25"/>
          <p:cNvSpPr txBox="1"/>
          <p:nvPr/>
        </p:nvSpPr>
        <p:spPr>
          <a:xfrm>
            <a:off x="6583680" y="3293618"/>
            <a:ext cx="42519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5F3EF"/>
                </a:solidFill>
              </a:defRPr>
            </a:lvl1pPr>
          </a:lstStyle>
          <a:p>
            <a:pPr/>
            <a:r>
              <a:t>Problems are traceable</a:t>
            </a:r>
          </a:p>
        </p:txBody>
      </p:sp>
      <p:sp>
        <p:nvSpPr>
          <p:cNvPr id="154" name="Text 26"/>
          <p:cNvSpPr txBox="1"/>
          <p:nvPr/>
        </p:nvSpPr>
        <p:spPr>
          <a:xfrm>
            <a:off x="6583680" y="3703065"/>
            <a:ext cx="4343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580"/>
                </a:solidFill>
              </a:defRPr>
            </a:lvl1pPr>
          </a:lstStyle>
          <a:p>
            <a:pPr/>
            <a:r>
              <a:t>We can determine what happened and why.</a:t>
            </a:r>
          </a:p>
        </p:txBody>
      </p:sp>
      <p:sp>
        <p:nvSpPr>
          <p:cNvPr id="155" name="Shape 27"/>
          <p:cNvSpPr/>
          <p:nvPr/>
        </p:nvSpPr>
        <p:spPr>
          <a:xfrm>
            <a:off x="6172200" y="4251959"/>
            <a:ext cx="256032" cy="256033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 28"/>
          <p:cNvSpPr txBox="1"/>
          <p:nvPr/>
        </p:nvSpPr>
        <p:spPr>
          <a:xfrm>
            <a:off x="6195059" y="4280915"/>
            <a:ext cx="21031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E0D0C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57" name="Text 29"/>
          <p:cNvSpPr txBox="1"/>
          <p:nvPr/>
        </p:nvSpPr>
        <p:spPr>
          <a:xfrm>
            <a:off x="6583680" y="4226306"/>
            <a:ext cx="42519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5F3EF"/>
                </a:solidFill>
              </a:defRPr>
            </a:lvl1pPr>
          </a:lstStyle>
          <a:p>
            <a:pPr/>
            <a:r>
              <a:t>Operational resilience improved</a:t>
            </a:r>
          </a:p>
        </p:txBody>
      </p:sp>
      <p:sp>
        <p:nvSpPr>
          <p:cNvPr id="158" name="Text 30"/>
          <p:cNvSpPr txBox="1"/>
          <p:nvPr/>
        </p:nvSpPr>
        <p:spPr>
          <a:xfrm>
            <a:off x="6583680" y="4635753"/>
            <a:ext cx="4343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580"/>
                </a:solidFill>
              </a:defRPr>
            </a:lvl1pPr>
          </a:lstStyle>
          <a:p>
            <a:pPr/>
            <a:r>
              <a:t>Deploys and instance changes do not silently damage data.</a:t>
            </a:r>
          </a:p>
        </p:txBody>
      </p:sp>
      <p:sp>
        <p:nvSpPr>
          <p:cNvPr id="159" name="Shape 31"/>
          <p:cNvSpPr/>
          <p:nvPr/>
        </p:nvSpPr>
        <p:spPr>
          <a:xfrm>
            <a:off x="6172200" y="5184647"/>
            <a:ext cx="256032" cy="256033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32"/>
          <p:cNvSpPr txBox="1"/>
          <p:nvPr/>
        </p:nvSpPr>
        <p:spPr>
          <a:xfrm>
            <a:off x="6195059" y="5213603"/>
            <a:ext cx="21031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E0D0C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61" name="Text 33"/>
          <p:cNvSpPr txBox="1"/>
          <p:nvPr/>
        </p:nvSpPr>
        <p:spPr>
          <a:xfrm>
            <a:off x="6583680" y="5158994"/>
            <a:ext cx="42519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5F3EF"/>
                </a:solidFill>
              </a:defRPr>
            </a:lvl1pPr>
          </a:lstStyle>
          <a:p>
            <a:pPr/>
            <a:r>
              <a:t>Remaining risk is explicit</a:t>
            </a:r>
          </a:p>
        </p:txBody>
      </p:sp>
      <p:sp>
        <p:nvSpPr>
          <p:cNvPr id="162" name="Text 34"/>
          <p:cNvSpPr txBox="1"/>
          <p:nvPr/>
        </p:nvSpPr>
        <p:spPr>
          <a:xfrm>
            <a:off x="6583680" y="5568441"/>
            <a:ext cx="4343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580"/>
                </a:solidFill>
              </a:defRPr>
            </a:lvl1pPr>
          </a:lstStyle>
          <a:p>
            <a:pPr/>
            <a:r>
              <a:t>Documented and prioritised before onboarding clients.</a:t>
            </a:r>
          </a:p>
        </p:txBody>
      </p:sp>
      <p:sp>
        <p:nvSpPr>
          <p:cNvPr id="163" name="Slide Number Placeholder 0"/>
          <p:cNvSpPr txBox="1"/>
          <p:nvPr>
            <p:ph type="sldNum" sz="quarter" idx="4294967295"/>
          </p:nvPr>
        </p:nvSpPr>
        <p:spPr>
          <a:xfrm>
            <a:off x="11497955" y="6510528"/>
            <a:ext cx="160646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 txBox="1"/>
          <p:nvPr/>
        </p:nvSpPr>
        <p:spPr>
          <a:xfrm>
            <a:off x="594359" y="751331"/>
            <a:ext cx="347472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30" sz="1000">
                <a:solidFill>
                  <a:srgbClr val="14B8A6"/>
                </a:solidFill>
              </a:defRPr>
            </a:lvl1pPr>
          </a:lstStyle>
          <a:p>
            <a:pPr/>
            <a:r>
              <a:t>05 · END STATE</a:t>
            </a:r>
          </a:p>
        </p:txBody>
      </p:sp>
      <p:sp>
        <p:nvSpPr>
          <p:cNvPr id="168" name="Text 1"/>
          <p:cNvSpPr txBox="1"/>
          <p:nvPr/>
        </p:nvSpPr>
        <p:spPr>
          <a:xfrm>
            <a:off x="594359" y="1104392"/>
            <a:ext cx="1069848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F5F3E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What success looks like</a:t>
            </a:r>
          </a:p>
        </p:txBody>
      </p:sp>
      <p:sp>
        <p:nvSpPr>
          <p:cNvPr id="169" name="Text 2"/>
          <p:cNvSpPr txBox="1"/>
          <p:nvPr/>
        </p:nvSpPr>
        <p:spPr>
          <a:xfrm>
            <a:off x="594359" y="1800351"/>
            <a:ext cx="102412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8A8580"/>
                </a:solidFill>
              </a:defRPr>
            </a:lvl1pPr>
          </a:lstStyle>
          <a:p>
            <a:pPr/>
            <a:r>
              <a:t>The final deliverable is a more robust platform — the agent is how we prove it.</a:t>
            </a:r>
          </a:p>
        </p:txBody>
      </p:sp>
      <p:sp>
        <p:nvSpPr>
          <p:cNvPr id="170" name="Shape 3"/>
          <p:cNvSpPr/>
          <p:nvPr/>
        </p:nvSpPr>
        <p:spPr>
          <a:xfrm>
            <a:off x="777240" y="2331720"/>
            <a:ext cx="10652760" cy="2011680"/>
          </a:xfrm>
          <a:prstGeom prst="roundRect">
            <a:avLst>
              <a:gd name="adj" fmla="val 3636"/>
            </a:avLst>
          </a:prstGeom>
          <a:solidFill>
            <a:srgbClr val="131210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Text 4"/>
          <p:cNvSpPr txBox="1"/>
          <p:nvPr/>
        </p:nvSpPr>
        <p:spPr>
          <a:xfrm>
            <a:off x="1142999" y="2773298"/>
            <a:ext cx="9921242" cy="991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0" tIns="380" rIns="380" bIns="380" anchor="ctr">
            <a:spAutoFit/>
          </a:bodyPr>
          <a:lstStyle>
            <a:lvl1pPr algn="ctr">
              <a:defRPr b="1" sz="2200">
                <a:solidFill>
                  <a:srgbClr val="F5F3E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“We have actively tried to break the backend, fixed the important weaknesses we found, and have a repeatable way of continuing to challenge the platform as it evolves.”</a:t>
            </a:r>
          </a:p>
        </p:txBody>
      </p:sp>
      <p:sp>
        <p:nvSpPr>
          <p:cNvPr id="172" name="Text 5"/>
          <p:cNvSpPr txBox="1"/>
          <p:nvPr/>
        </p:nvSpPr>
        <p:spPr>
          <a:xfrm>
            <a:off x="868679" y="4946650"/>
            <a:ext cx="146304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100">
                <a:solidFill>
                  <a:srgbClr val="14B8A6"/>
                </a:solidFill>
              </a:defRPr>
            </a:lvl1pPr>
          </a:lstStyle>
          <a:p>
            <a:pPr/>
            <a:r>
              <a:t>Acceptance demo</a:t>
            </a:r>
          </a:p>
        </p:txBody>
      </p:sp>
      <p:sp>
        <p:nvSpPr>
          <p:cNvPr id="173" name="Text 6"/>
          <p:cNvSpPr txBox="1"/>
          <p:nvPr/>
        </p:nvSpPr>
        <p:spPr>
          <a:xfrm>
            <a:off x="868679" y="5363900"/>
            <a:ext cx="10332722" cy="464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8A8580"/>
                </a:solidFill>
              </a:defRPr>
            </a:lvl1pPr>
          </a:lstStyle>
          <a:p>
            <a:pPr/>
            <a:r>
              <a:t>Run a representative backend flow → introduce retries / concurrency / failure → verify resulting data is correct, durable and traceable → show the retained regression scenario.</a:t>
            </a:r>
          </a:p>
        </p:txBody>
      </p:sp>
      <p:sp>
        <p:nvSpPr>
          <p:cNvPr id="174" name="Slide Number Placeholder 0"/>
          <p:cNvSpPr txBox="1"/>
          <p:nvPr>
            <p:ph type="sldNum" sz="quarter" idx="4294967295"/>
          </p:nvPr>
        </p:nvSpPr>
        <p:spPr>
          <a:xfrm>
            <a:off x="11497955" y="6510528"/>
            <a:ext cx="160646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Box 1"/>
          <p:cNvSpPr txBox="1"/>
          <p:nvPr/>
        </p:nvSpPr>
        <p:spPr>
          <a:xfrm>
            <a:off x="594360" y="713231"/>
            <a:ext cx="38404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4B8A6"/>
                </a:solidFill>
              </a:defRPr>
            </a:lvl1pPr>
          </a:lstStyle>
          <a:p>
            <a:pPr/>
            <a:r>
              <a:t>06 · TECHNOLOGY STACK</a:t>
            </a:r>
          </a:p>
        </p:txBody>
      </p:sp>
      <p:sp>
        <p:nvSpPr>
          <p:cNvPr id="179" name="TextBox 2"/>
          <p:cNvSpPr txBox="1"/>
          <p:nvPr/>
        </p:nvSpPr>
        <p:spPr>
          <a:xfrm>
            <a:off x="594359" y="987552"/>
            <a:ext cx="1069848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700">
                <a:solidFill>
                  <a:srgbClr val="F5F3E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Technology stack</a:t>
            </a:r>
          </a:p>
        </p:txBody>
      </p:sp>
      <p:sp>
        <p:nvSpPr>
          <p:cNvPr id="180" name="TextBox 3"/>
          <p:cNvSpPr txBox="1"/>
          <p:nvPr/>
        </p:nvSpPr>
        <p:spPr>
          <a:xfrm>
            <a:off x="594359" y="1664207"/>
            <a:ext cx="1078992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A39E98"/>
                </a:solidFill>
              </a:defRPr>
            </a:lvl1pPr>
          </a:lstStyle>
          <a:p>
            <a:pPr/>
            <a:r>
              <a:t>Three frontend surfaces share a Python backend and common infrastructure.</a:t>
            </a:r>
          </a:p>
        </p:txBody>
      </p:sp>
      <p:sp>
        <p:nvSpPr>
          <p:cNvPr id="181" name="Rounded Rectangle 4"/>
          <p:cNvSpPr/>
          <p:nvPr/>
        </p:nvSpPr>
        <p:spPr>
          <a:xfrm>
            <a:off x="685800" y="2331720"/>
            <a:ext cx="5394960" cy="1828801"/>
          </a:xfrm>
          <a:prstGeom prst="roundRect">
            <a:avLst>
              <a:gd name="adj" fmla="val 2500"/>
            </a:avLst>
          </a:prstGeom>
          <a:solidFill>
            <a:srgbClr val="131210"/>
          </a:solidFill>
          <a:ln w="12700">
            <a:solidFill>
              <a:srgbClr val="221F1A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2" name="Rectangle 5"/>
          <p:cNvSpPr/>
          <p:nvPr/>
        </p:nvSpPr>
        <p:spPr>
          <a:xfrm>
            <a:off x="685799" y="2331720"/>
            <a:ext cx="73154" cy="1828801"/>
          </a:xfrm>
          <a:prstGeom prst="rect">
            <a:avLst/>
          </a:prstGeom>
          <a:solidFill>
            <a:srgbClr val="14B8A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TextBox 6"/>
          <p:cNvSpPr txBox="1"/>
          <p:nvPr/>
        </p:nvSpPr>
        <p:spPr>
          <a:xfrm>
            <a:off x="941831" y="2468878"/>
            <a:ext cx="491033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5F3EF"/>
                </a:solidFill>
              </a:defRPr>
            </a:lvl1pPr>
          </a:lstStyle>
          <a:p>
            <a:pPr/>
            <a:r>
              <a:t>Backend core</a:t>
            </a:r>
          </a:p>
        </p:txBody>
      </p:sp>
      <p:sp>
        <p:nvSpPr>
          <p:cNvPr id="184" name="TextBox 7"/>
          <p:cNvSpPr txBox="1"/>
          <p:nvPr/>
        </p:nvSpPr>
        <p:spPr>
          <a:xfrm>
            <a:off x="941832" y="2798062"/>
            <a:ext cx="4919472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A39E98"/>
                </a:solidFill>
              </a:defRPr>
            </a:pPr>
            <a:r>
              <a:t>API &amp; data   FastAPI/Uvicorn, Pydantic, SQLAlchemy/Alembic, PostgreSQL, MongoDB, Redis</a:t>
            </a:r>
          </a:p>
          <a:p>
            <a:pPr>
              <a:defRPr sz="1100">
                <a:solidFill>
                  <a:srgbClr val="A39E98"/>
                </a:solidFill>
              </a:defRPr>
            </a:pPr>
            <a:r>
              <a:t>Jobs &amp; HTTP   Celery/Kombu, HTTPX/Requests/Tenacity</a:t>
            </a:r>
          </a:p>
          <a:p>
            <a:pPr>
              <a:defRPr sz="1100">
                <a:solidFill>
                  <a:srgbClr val="A39E98"/>
                </a:solidFill>
              </a:defRPr>
            </a:pPr>
            <a:r>
              <a:t>Security &amp; ops   Crypto/auth, Structlog/Prometheus, cloud integrations, threat intel, optional AI providers</a:t>
            </a:r>
          </a:p>
        </p:txBody>
      </p:sp>
      <p:sp>
        <p:nvSpPr>
          <p:cNvPr id="185" name="Rounded Rectangle 8"/>
          <p:cNvSpPr/>
          <p:nvPr/>
        </p:nvSpPr>
        <p:spPr>
          <a:xfrm>
            <a:off x="685800" y="4288535"/>
            <a:ext cx="5394960" cy="740665"/>
          </a:xfrm>
          <a:prstGeom prst="roundRect">
            <a:avLst>
              <a:gd name="adj" fmla="val 2500"/>
            </a:avLst>
          </a:prstGeom>
          <a:solidFill>
            <a:srgbClr val="131210"/>
          </a:solidFill>
          <a:ln w="12700">
            <a:solidFill>
              <a:srgbClr val="221F1A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" name="Rectangle 9"/>
          <p:cNvSpPr/>
          <p:nvPr/>
        </p:nvSpPr>
        <p:spPr>
          <a:xfrm>
            <a:off x="685799" y="4288535"/>
            <a:ext cx="73154" cy="740665"/>
          </a:xfrm>
          <a:prstGeom prst="rect">
            <a:avLst/>
          </a:prstGeom>
          <a:solidFill>
            <a:srgbClr val="E9B94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TextBox 10"/>
          <p:cNvSpPr txBox="1"/>
          <p:nvPr/>
        </p:nvSpPr>
        <p:spPr>
          <a:xfrm>
            <a:off x="941831" y="4370832"/>
            <a:ext cx="491033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5F3EF"/>
                </a:solidFill>
              </a:defRPr>
            </a:lvl1pPr>
          </a:lstStyle>
          <a:p>
            <a:pPr/>
            <a:r>
              <a:t>Backend quality</a:t>
            </a:r>
          </a:p>
        </p:txBody>
      </p:sp>
      <p:sp>
        <p:nvSpPr>
          <p:cNvPr id="188" name="TextBox 11"/>
          <p:cNvSpPr txBox="1"/>
          <p:nvPr/>
        </p:nvSpPr>
        <p:spPr>
          <a:xfrm>
            <a:off x="941832" y="4626864"/>
            <a:ext cx="491947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A39E98"/>
                </a:solidFill>
              </a:defRPr>
            </a:lvl1pPr>
          </a:lstStyle>
          <a:p>
            <a:pPr/>
            <a:r>
              <a:t>Pytest, Black, Ruff, Mypy, Pre-commit, Bandit, Safety</a:t>
            </a:r>
          </a:p>
        </p:txBody>
      </p:sp>
      <p:sp>
        <p:nvSpPr>
          <p:cNvPr id="189" name="Rounded Rectangle 12"/>
          <p:cNvSpPr/>
          <p:nvPr/>
        </p:nvSpPr>
        <p:spPr>
          <a:xfrm>
            <a:off x="685800" y="5157215"/>
            <a:ext cx="5394960" cy="914401"/>
          </a:xfrm>
          <a:prstGeom prst="roundRect">
            <a:avLst>
              <a:gd name="adj" fmla="val 2500"/>
            </a:avLst>
          </a:prstGeom>
          <a:solidFill>
            <a:srgbClr val="131210"/>
          </a:solidFill>
          <a:ln w="12700">
            <a:solidFill>
              <a:srgbClr val="221F1A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Rectangle 13"/>
          <p:cNvSpPr/>
          <p:nvPr/>
        </p:nvSpPr>
        <p:spPr>
          <a:xfrm>
            <a:off x="685799" y="5157215"/>
            <a:ext cx="73154" cy="914401"/>
          </a:xfrm>
          <a:prstGeom prst="rect">
            <a:avLst/>
          </a:prstGeom>
          <a:solidFill>
            <a:srgbClr val="6FC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TextBox 14"/>
          <p:cNvSpPr txBox="1"/>
          <p:nvPr/>
        </p:nvSpPr>
        <p:spPr>
          <a:xfrm>
            <a:off x="941831" y="5294376"/>
            <a:ext cx="491033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5F3EF"/>
                </a:solidFill>
              </a:defRPr>
            </a:lvl1pPr>
          </a:lstStyle>
          <a:p>
            <a:pPr/>
            <a:r>
              <a:t>Infrastructure &amp; BFF</a:t>
            </a:r>
          </a:p>
        </p:txBody>
      </p:sp>
      <p:sp>
        <p:nvSpPr>
          <p:cNvPr id="192" name="TextBox 15"/>
          <p:cNvSpPr txBox="1"/>
          <p:nvPr/>
        </p:nvSpPr>
        <p:spPr>
          <a:xfrm>
            <a:off x="941832" y="5623559"/>
            <a:ext cx="491947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A39E98"/>
                </a:solidFill>
              </a:defRPr>
            </a:lvl1pPr>
          </a:lstStyle>
          <a:p>
            <a:pPr/>
            <a:r>
              <a:t>PostgreSQL, MongoDB, Redis, Mailpit, Docker Compose, Celery workers. Python BFF uses the server's Poetry environment.</a:t>
            </a:r>
          </a:p>
        </p:txBody>
      </p:sp>
      <p:sp>
        <p:nvSpPr>
          <p:cNvPr id="193" name="Rounded Rectangle 16"/>
          <p:cNvSpPr/>
          <p:nvPr/>
        </p:nvSpPr>
        <p:spPr>
          <a:xfrm>
            <a:off x="6236208" y="2331720"/>
            <a:ext cx="5285233" cy="1161289"/>
          </a:xfrm>
          <a:prstGeom prst="roundRect">
            <a:avLst>
              <a:gd name="adj" fmla="val 2500"/>
            </a:avLst>
          </a:prstGeom>
          <a:solidFill>
            <a:srgbClr val="131210"/>
          </a:solidFill>
          <a:ln w="12700">
            <a:solidFill>
              <a:srgbClr val="221F1A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" name="Rectangle 17"/>
          <p:cNvSpPr/>
          <p:nvPr/>
        </p:nvSpPr>
        <p:spPr>
          <a:xfrm>
            <a:off x="6236208" y="2331720"/>
            <a:ext cx="73153" cy="1161289"/>
          </a:xfrm>
          <a:prstGeom prst="rect">
            <a:avLst/>
          </a:prstGeom>
          <a:solidFill>
            <a:srgbClr val="E567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TextBox 18"/>
          <p:cNvSpPr txBox="1"/>
          <p:nvPr/>
        </p:nvSpPr>
        <p:spPr>
          <a:xfrm>
            <a:off x="6492240" y="2468878"/>
            <a:ext cx="48006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5F3EF"/>
                </a:solidFill>
              </a:defRPr>
            </a:lvl1pPr>
          </a:lstStyle>
          <a:p>
            <a:pPr/>
            <a:r>
              <a:t>Authenticated tenant</a:t>
            </a:r>
          </a:p>
        </p:txBody>
      </p:sp>
      <p:sp>
        <p:nvSpPr>
          <p:cNvPr id="196" name="TextBox 19"/>
          <p:cNvSpPr txBox="1"/>
          <p:nvPr/>
        </p:nvSpPr>
        <p:spPr>
          <a:xfrm>
            <a:off x="6492240" y="2798062"/>
            <a:ext cx="4809745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A39E98"/>
                </a:solidFill>
              </a:defRPr>
            </a:pPr>
            <a:r>
              <a:t>Next.js/React/TypeScript, TanStack Query, Auth0, Zod, Framer Motion, Recharts, Lucide, design system/tokens, OpenTelemetry</a:t>
            </a:r>
          </a:p>
          <a:p>
            <a:pPr>
              <a:defRPr sz="1000">
                <a:solidFill>
                  <a:srgbClr val="A39E98"/>
                </a:solidFill>
              </a:defRPr>
            </a:pPr>
            <a:r>
              <a:t>Quality: Vitest, Testing Library, Playwright, Axe, Lighthouse, Storybook</a:t>
            </a:r>
          </a:p>
        </p:txBody>
      </p:sp>
      <p:sp>
        <p:nvSpPr>
          <p:cNvPr id="197" name="Rounded Rectangle 20"/>
          <p:cNvSpPr/>
          <p:nvPr/>
        </p:nvSpPr>
        <p:spPr>
          <a:xfrm>
            <a:off x="6236208" y="3621023"/>
            <a:ext cx="5285233" cy="1161289"/>
          </a:xfrm>
          <a:prstGeom prst="roundRect">
            <a:avLst>
              <a:gd name="adj" fmla="val 2500"/>
            </a:avLst>
          </a:prstGeom>
          <a:solidFill>
            <a:srgbClr val="131210"/>
          </a:solidFill>
          <a:ln w="12700">
            <a:solidFill>
              <a:srgbClr val="221F1A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" name="Rectangle 21"/>
          <p:cNvSpPr/>
          <p:nvPr/>
        </p:nvSpPr>
        <p:spPr>
          <a:xfrm>
            <a:off x="6236208" y="3621023"/>
            <a:ext cx="73153" cy="1161289"/>
          </a:xfrm>
          <a:prstGeom prst="rect">
            <a:avLst/>
          </a:prstGeom>
          <a:solidFill>
            <a:srgbClr val="6C9FE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TextBox 22"/>
          <p:cNvSpPr txBox="1"/>
          <p:nvPr/>
        </p:nvSpPr>
        <p:spPr>
          <a:xfrm>
            <a:off x="6492240" y="3758184"/>
            <a:ext cx="48006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5F3EF"/>
                </a:solidFill>
              </a:defRPr>
            </a:lvl1pPr>
          </a:lstStyle>
          <a:p>
            <a:pPr/>
            <a:r>
              <a:t>Public www &amp; onboarding</a:t>
            </a:r>
          </a:p>
        </p:txBody>
      </p:sp>
      <p:sp>
        <p:nvSpPr>
          <p:cNvPr id="200" name="TextBox 23"/>
          <p:cNvSpPr txBox="1"/>
          <p:nvPr/>
        </p:nvSpPr>
        <p:spPr>
          <a:xfrm>
            <a:off x="6492240" y="4087367"/>
            <a:ext cx="480974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A39E98"/>
                </a:solidFill>
              </a:defRPr>
            </a:pPr>
            <a:r>
              <a:t>Next.js/React/TypeScript, Zod, LRU Cache, design system/tokens, Tailwind/PostCSS</a:t>
            </a:r>
          </a:p>
          <a:p>
            <a:pPr>
              <a:defRPr sz="1000">
                <a:solidFill>
                  <a:srgbClr val="A39E98"/>
                </a:solidFill>
              </a:defRPr>
            </a:pPr>
            <a:r>
              <a:t>Quality &amp; deploy: Playwright, Axe, Testing Library, OpenNext Cloudflare</a:t>
            </a:r>
          </a:p>
        </p:txBody>
      </p:sp>
      <p:sp>
        <p:nvSpPr>
          <p:cNvPr id="201" name="Rounded Rectangle 24"/>
          <p:cNvSpPr/>
          <p:nvPr/>
        </p:nvSpPr>
        <p:spPr>
          <a:xfrm>
            <a:off x="6236208" y="4910328"/>
            <a:ext cx="5285233" cy="1161289"/>
          </a:xfrm>
          <a:prstGeom prst="roundRect">
            <a:avLst>
              <a:gd name="adj" fmla="val 2500"/>
            </a:avLst>
          </a:prstGeom>
          <a:solidFill>
            <a:srgbClr val="131210"/>
          </a:solidFill>
          <a:ln w="12700">
            <a:solidFill>
              <a:srgbClr val="221F1A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" name="Rectangle 25"/>
          <p:cNvSpPr/>
          <p:nvPr/>
        </p:nvSpPr>
        <p:spPr>
          <a:xfrm>
            <a:off x="6236208" y="4910328"/>
            <a:ext cx="73153" cy="1161289"/>
          </a:xfrm>
          <a:prstGeom prst="rect">
            <a:avLst/>
          </a:prstGeom>
          <a:solidFill>
            <a:srgbClr val="14B8A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" name="TextBox 26"/>
          <p:cNvSpPr txBox="1"/>
          <p:nvPr/>
        </p:nvSpPr>
        <p:spPr>
          <a:xfrm>
            <a:off x="6492240" y="5047488"/>
            <a:ext cx="48006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5F3EF"/>
                </a:solidFill>
              </a:defRPr>
            </a:lvl1pPr>
          </a:lstStyle>
          <a:p>
            <a:pPr/>
            <a:r>
              <a:t>Shared design system</a:t>
            </a:r>
          </a:p>
        </p:txBody>
      </p:sp>
      <p:sp>
        <p:nvSpPr>
          <p:cNvPr id="204" name="TextBox 27"/>
          <p:cNvSpPr txBox="1"/>
          <p:nvPr/>
        </p:nvSpPr>
        <p:spPr>
          <a:xfrm>
            <a:off x="6492240" y="5376671"/>
            <a:ext cx="480974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A39E98"/>
                </a:solidFill>
              </a:defRPr>
            </a:pPr>
            <a:r>
              <a:t>React peers, clsx, elkjs, Lucide, Recharts, TypeScript</a:t>
            </a:r>
          </a:p>
          <a:p>
            <a:pPr>
              <a:defRPr sz="1000">
                <a:solidFill>
                  <a:srgbClr val="A39E98"/>
                </a:solidFill>
              </a:defRPr>
            </a:pPr>
            <a:r>
              <a:t>Quality: Vitest, Testing Library, jsdom</a:t>
            </a:r>
          </a:p>
        </p:txBody>
      </p:sp>
      <p:sp>
        <p:nvSpPr>
          <p:cNvPr id="205" name="TextBox 28"/>
          <p:cNvSpPr txBox="1"/>
          <p:nvPr/>
        </p:nvSpPr>
        <p:spPr>
          <a:xfrm>
            <a:off x="11384280" y="6510528"/>
            <a:ext cx="274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67625D"/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06" name="TextBox 29"/>
          <p:cNvSpPr txBox="1"/>
          <p:nvPr/>
        </p:nvSpPr>
        <p:spPr>
          <a:xfrm>
            <a:off x="685799" y="6208776"/>
            <a:ext cx="403837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b="1" sz="900">
                <a:solidFill>
                  <a:srgbClr val="14B8A6"/>
                </a:solidFill>
              </a:defRPr>
            </a:pPr>
            <a:r>
              <a:t>BACKEND REPOSITORY  </a:t>
            </a:r>
            <a:r>
              <a:rPr b="0"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https://github.com/Sthinggaard/platform-backend.git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594360" y="713231"/>
            <a:ext cx="38404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4B8A6"/>
                </a:solidFill>
              </a:defRPr>
            </a:lvl1pPr>
          </a:lstStyle>
          <a:p>
            <a:pPr/>
            <a:r>
              <a:t>06 · TECHNOLOGY STACK</a:t>
            </a:r>
          </a:p>
        </p:txBody>
      </p:sp>
      <p:sp>
        <p:nvSpPr>
          <p:cNvPr id="209" name="TextBox 2"/>
          <p:cNvSpPr txBox="1"/>
          <p:nvPr/>
        </p:nvSpPr>
        <p:spPr>
          <a:xfrm>
            <a:off x="594359" y="987552"/>
            <a:ext cx="1069848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700">
                <a:solidFill>
                  <a:srgbClr val="F5F3E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User Story: Platform Security Test Agent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631850" y="1517650"/>
            <a:ext cx="10789921" cy="496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b="1"/>
              <a:t>As a</a:t>
            </a:r>
            <a:r>
              <a:t> software engineer,</a:t>
            </a:r>
            <a:br/>
            <a:r>
              <a:rPr b="1"/>
              <a:t>I want to</a:t>
            </a:r>
            <a:r>
              <a:t> create a test agent that interacts with the platform through CRUD operations,</a:t>
            </a:r>
            <a:br/>
            <a:r>
              <a:rPr b="1"/>
              <a:t>so that</a:t>
            </a:r>
            <a:r>
              <a:t> we can test platform security and resilience.</a:t>
            </a:r>
          </a:p>
          <a:p>
            <a:pPr>
              <a:defRPr b="1" sz="1400">
                <a:solidFill>
                  <a:srgbClr val="FFFFFF"/>
                </a:solidFill>
              </a:defRPr>
            </a:pPr>
          </a:p>
          <a:p>
            <a:pPr>
              <a:defRPr b="1" sz="1400">
                <a:solidFill>
                  <a:srgbClr val="FFFFFF"/>
                </a:solidFill>
              </a:defRPr>
            </a:pPr>
            <a:r>
              <a:t>Acceptance Criteria</a:t>
            </a:r>
          </a:p>
          <a:p>
            <a:pPr>
              <a:defRPr b="1" sz="1400">
                <a:solidFill>
                  <a:srgbClr val="FFFFFF"/>
                </a:solidFill>
              </a:defRPr>
            </a:pPr>
          </a:p>
          <a:p>
            <a:pPr marL="615950" indent="-476250"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</a:defRPr>
            </a:pPr>
            <a:r>
              <a:t>Can perform CRUD operations against the platform APIs.</a:t>
            </a:r>
          </a:p>
          <a:p>
            <a:pPr marL="615950" indent="-476250"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</a:defRPr>
            </a:pPr>
            <a:r>
              <a:t>Can simulate normal user behaviour.</a:t>
            </a:r>
          </a:p>
          <a:p>
            <a:pPr marL="615950" indent="-476250"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</a:defRPr>
            </a:pPr>
            <a:r>
              <a:t>Can simulate misuse and abnormal behaviour.</a:t>
            </a:r>
          </a:p>
          <a:p>
            <a:pPr marL="615950" indent="-476250"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</a:defRPr>
            </a:pPr>
            <a:r>
              <a:t>Can generate controlled high-volume traffic to test platform resilience and protections.</a:t>
            </a:r>
          </a:p>
          <a:p>
            <a:pPr marL="615950" indent="-476250"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</a:defRPr>
            </a:pPr>
            <a:r>
              <a:t>Can test invalid requests and unauthorized operations.</a:t>
            </a:r>
          </a:p>
          <a:p>
            <a:pPr marL="615950" indent="-476250"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</a:defRPr>
            </a:pPr>
            <a:r>
              <a:t>Can be configured to control request volume and behaviour.</a:t>
            </a:r>
          </a:p>
          <a:p>
            <a:pPr marL="615950" indent="-476250"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</a:defRPr>
            </a:pPr>
            <a:r>
              <a:t>Can be executed from the terminal.</a:t>
            </a:r>
          </a:p>
          <a:p>
            <a:pPr marL="615950" indent="-476250"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</a:defRPr>
            </a:pPr>
            <a:r>
              <a:t>Records test results, errors, and rejected requests.</a:t>
            </a:r>
          </a:p>
          <a:p>
            <a:pPr>
              <a:defRPr b="1" sz="1400">
                <a:solidFill>
                  <a:srgbClr val="FFFFFF"/>
                </a:solidFill>
              </a:defRPr>
            </a:pPr>
          </a:p>
          <a:p>
            <a:pPr>
              <a:defRPr b="1" sz="1400">
                <a:solidFill>
                  <a:srgbClr val="FFFFFF"/>
                </a:solidFill>
              </a:defRPr>
            </a:pPr>
            <a:r>
              <a:t>Definition of Done</a:t>
            </a:r>
          </a:p>
          <a:p>
            <a:pPr>
              <a:defRPr b="1" sz="1400">
                <a:solidFill>
                  <a:srgbClr val="FFFFFF"/>
                </a:solidFill>
              </a:defRPr>
            </a:pPr>
          </a:p>
          <a:p>
            <a:pPr marL="615950" indent="-476250"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</a:defRPr>
            </a:pPr>
            <a:r>
              <a:t>Agent implemented and runnable from the terminal.</a:t>
            </a:r>
          </a:p>
          <a:p>
            <a:pPr marL="615950" indent="-476250"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</a:defRPr>
            </a:pPr>
            <a:r>
              <a:t>Normal and misuse scenarios implemented.</a:t>
            </a:r>
          </a:p>
          <a:p>
            <a:pPr marL="615950" indent="-476250"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</a:defRPr>
            </a:pPr>
            <a:r>
              <a:t>Controlled high-volume testing supported.</a:t>
            </a:r>
          </a:p>
          <a:p>
            <a:pPr marL="615950" indent="-476250"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</a:defRPr>
            </a:pPr>
            <a:r>
              <a:t>Results are logged and reviewable.</a:t>
            </a:r>
          </a:p>
          <a:p>
            <a:pPr marL="615950" indent="-476250"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</a:defRPr>
            </a:pPr>
            <a:r>
              <a:t>Automated tests cover the core functionality.</a:t>
            </a:r>
          </a:p>
          <a:p>
            <a:pPr marL="615950" indent="-476250"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</a:defRPr>
            </a:pPr>
            <a:r>
              <a:t>Basic usage is documented.</a:t>
            </a:r>
          </a:p>
        </p:txBody>
      </p:sp>
      <p:sp>
        <p:nvSpPr>
          <p:cNvPr id="211" name="TextBox 28"/>
          <p:cNvSpPr txBox="1"/>
          <p:nvPr/>
        </p:nvSpPr>
        <p:spPr>
          <a:xfrm>
            <a:off x="11384280" y="6510528"/>
            <a:ext cx="274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67625D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0E0D0C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